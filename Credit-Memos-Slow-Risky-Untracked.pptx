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DM Sans Medium"/>
      <p:regular r:id="rId12"/>
    </p:embeddedFont>
    <p:embeddedFont>
      <p:font typeface="DM Sans Medium"/>
      <p:regular r:id="rId13"/>
    </p:embeddedFont>
    <p:embeddedFont>
      <p:font typeface="DM Sans Medium"/>
      <p:regular r:id="rId14"/>
    </p:embeddedFont>
    <p:embeddedFont>
      <p:font typeface="DM Sans Medium"/>
      <p:regular r:id="rId15"/>
    </p:embeddedFont>
    <p:embeddedFont>
      <p:font typeface="Inter"/>
      <p:regular r:id="rId16"/>
    </p:embeddedFon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7306"/>
            <a:ext cx="100429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Credit Memos: Slow, Risky, Untracked.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5624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memos are critical decisions, but current processes are costly bottlenecks.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974300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2974300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AC9EF5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231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Hours Wasted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3722013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Analysts waste days manually reviewing financial PDFs, extracting metrics, and identifying risks.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974300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6482" y="2974300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AC9EF5"/>
          </a:solidFill>
          <a:ln/>
        </p:spPr>
      </p:sp>
      <p:sp>
        <p:nvSpPr>
          <p:cNvPr id="10" name="Text 8"/>
          <p:cNvSpPr/>
          <p:nvPr/>
        </p:nvSpPr>
        <p:spPr>
          <a:xfrm>
            <a:off x="5565696" y="3231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Error-Prone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65696" y="372201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transcription causes mistakes, missed red flags, and inconsistent analysis.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2974300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9653" y="2974300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AC9EF5"/>
          </a:solidFill>
          <a:ln/>
        </p:spPr>
      </p:sp>
      <p:sp>
        <p:nvSpPr>
          <p:cNvPr id="14" name="Text 12"/>
          <p:cNvSpPr/>
          <p:nvPr/>
        </p:nvSpPr>
        <p:spPr>
          <a:xfrm>
            <a:off x="9988868" y="3231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Opaque Audit Trails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988868" y="372201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Untracked analysis prevents regulators from verifying decisions or source documents.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133951" y="594121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Mid-size banks (50+ decisions/month) lose over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$100,000 annually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due to manual analysis. Banks need faster, compliant credit analysis now.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686068"/>
            <a:ext cx="30480" cy="1236107"/>
          </a:xfrm>
          <a:prstGeom prst="rect">
            <a:avLst/>
          </a:prstGeom>
          <a:solidFill>
            <a:srgbClr val="AC9EF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3836"/>
            <a:ext cx="114846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 Credit Memos: Faster, Smarter Decisions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1277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system streamlines credit memo generation. It combines PDF ingestion, topic retrieval, and LLM analysis for evidence-backed, page-linked insights. Eliminates hallucinations and guesswork.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33894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2D3133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503414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AC9EF5"/>
          </a:solidFill>
          <a:ln/>
        </p:spPr>
      </p:sp>
      <p:sp>
        <p:nvSpPr>
          <p:cNvPr id="6" name="Shape 4"/>
          <p:cNvSpPr/>
          <p:nvPr/>
        </p:nvSpPr>
        <p:spPr>
          <a:xfrm>
            <a:off x="2551688" y="319373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AC9E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55761" y="3397806"/>
            <a:ext cx="272177" cy="2721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084" y="4100870"/>
            <a:ext cx="32907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PDF Parsing &amp; Extraction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51084" y="4591288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Parses financial PDFs, preserving page references and context.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216962" y="3533894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2D3133"/>
          </a:solidFill>
          <a:ln/>
        </p:spPr>
      </p:sp>
      <p:sp>
        <p:nvSpPr>
          <p:cNvPr id="11" name="Shape 8"/>
          <p:cNvSpPr/>
          <p:nvPr/>
        </p:nvSpPr>
        <p:spPr>
          <a:xfrm>
            <a:off x="5216962" y="3503414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AC9EF5"/>
          </a:solidFill>
          <a:ln/>
        </p:spPr>
      </p:sp>
      <p:sp>
        <p:nvSpPr>
          <p:cNvPr id="12" name="Shape 9"/>
          <p:cNvSpPr/>
          <p:nvPr/>
        </p:nvSpPr>
        <p:spPr>
          <a:xfrm>
            <a:off x="6974860" y="319373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AC9EF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8933" y="3397806"/>
            <a:ext cx="272177" cy="2721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74256" y="4100870"/>
            <a:ext cx="29178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Topic-Based Retrieval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5474256" y="4591288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Retrieves content by financial topic (revenue, risks, cash flow) for comprehensive context.</a:t>
            </a:r>
            <a:endParaRPr lang="en-US" sz="1750" dirty="0"/>
          </a:p>
        </p:txBody>
      </p:sp>
      <p:sp>
        <p:nvSpPr>
          <p:cNvPr id="16" name="Shape 12"/>
          <p:cNvSpPr/>
          <p:nvPr/>
        </p:nvSpPr>
        <p:spPr>
          <a:xfrm>
            <a:off x="9640133" y="3533894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2D3133"/>
          </a:solidFill>
          <a:ln/>
        </p:spPr>
      </p:sp>
      <p:sp>
        <p:nvSpPr>
          <p:cNvPr id="17" name="Shape 13"/>
          <p:cNvSpPr/>
          <p:nvPr/>
        </p:nvSpPr>
        <p:spPr>
          <a:xfrm>
            <a:off x="9640133" y="3503414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AC9EF5"/>
          </a:solidFill>
          <a:ln/>
        </p:spPr>
      </p:sp>
      <p:sp>
        <p:nvSpPr>
          <p:cNvPr id="18" name="Shape 14"/>
          <p:cNvSpPr/>
          <p:nvPr/>
        </p:nvSpPr>
        <p:spPr>
          <a:xfrm>
            <a:off x="11398032" y="319373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AC9EF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02105" y="3397806"/>
            <a:ext cx="272177" cy="27217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897427" y="4100870"/>
            <a:ext cx="32638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Structured Credit Memo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9897427" y="4591288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banking-standard output: Executive Summary, Financial Metrics, 5Cs Analysis, Risk Assessment.</a:t>
            </a:r>
            <a:endParaRPr lang="en-US" sz="1750" dirty="0"/>
          </a:p>
        </p:txBody>
      </p:sp>
      <p:sp>
        <p:nvSpPr>
          <p:cNvPr id="22" name="Text 17"/>
          <p:cNvSpPr/>
          <p:nvPr/>
        </p:nvSpPr>
        <p:spPr>
          <a:xfrm>
            <a:off x="793790" y="6640354"/>
            <a:ext cx="805469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Explainability by Design: No Black-Box Summaries.</a:t>
            </a:r>
            <a:endParaRPr lang="en-US" sz="2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233" y="732949"/>
            <a:ext cx="5159454" cy="6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Robust Architecture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2233" y="1790462"/>
            <a:ext cx="13185934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Auditable architecture for regulated environments.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2233" y="2352675"/>
            <a:ext cx="206335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233" y="2680454"/>
            <a:ext cx="4257675" cy="2286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6" name="Text 4"/>
          <p:cNvSpPr/>
          <p:nvPr/>
        </p:nvSpPr>
        <p:spPr>
          <a:xfrm>
            <a:off x="722233" y="2829282"/>
            <a:ext cx="2579727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PDF Ingestion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22233" y="3275528"/>
            <a:ext cx="4257675" cy="66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Extracts text/tables page-by-page, preserving page references for traceability.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86243" y="2352675"/>
            <a:ext cx="206335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86243" y="2680454"/>
            <a:ext cx="4257794" cy="2286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0" name="Text 8"/>
          <p:cNvSpPr/>
          <p:nvPr/>
        </p:nvSpPr>
        <p:spPr>
          <a:xfrm>
            <a:off x="5186243" y="2829282"/>
            <a:ext cx="2579727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Topic Retrieval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186243" y="3275528"/>
            <a:ext cx="4257794" cy="66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Searches extracted data by financial topic (revenue, risks, cash flow) for insights.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50373" y="2352675"/>
            <a:ext cx="206335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50373" y="2680454"/>
            <a:ext cx="4257675" cy="2286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4" name="Text 12"/>
          <p:cNvSpPr/>
          <p:nvPr/>
        </p:nvSpPr>
        <p:spPr>
          <a:xfrm>
            <a:off x="9650373" y="2829282"/>
            <a:ext cx="2579727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LLM Credit Analysis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50373" y="3275528"/>
            <a:ext cx="4257675" cy="66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Groq API processes context with structured instructions for 5Cs credit analysis.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2233" y="4296727"/>
            <a:ext cx="206335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2233" y="4624507"/>
            <a:ext cx="6489740" cy="2286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8" name="Text 16"/>
          <p:cNvSpPr/>
          <p:nvPr/>
        </p:nvSpPr>
        <p:spPr>
          <a:xfrm>
            <a:off x="722233" y="4773335"/>
            <a:ext cx="2579727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Memo Generation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2233" y="5219581"/>
            <a:ext cx="6489740" cy="66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banking-standard outputs: Executive Summary, Financial Metrics, 5Cs, Risk Assessment.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18308" y="4296727"/>
            <a:ext cx="206335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18308" y="4624507"/>
            <a:ext cx="6489740" cy="2286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22" name="Text 20"/>
          <p:cNvSpPr/>
          <p:nvPr/>
        </p:nvSpPr>
        <p:spPr>
          <a:xfrm>
            <a:off x="7418308" y="4773335"/>
            <a:ext cx="2579727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JSON &amp; Word Export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18308" y="5219581"/>
            <a:ext cx="6489740" cy="66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Delivers machine-readable JSON/Word for integration &amp; distribution.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2233" y="6266617"/>
            <a:ext cx="13185934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🛡️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Hallucination-Proof: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LLM uses only retrieved document context, preventing false claims. Insights are evidence-backed, traceable, verifiable.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2233" y="7166491"/>
            <a:ext cx="13185934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Principles: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Zero hallucinations, strict source attribution, deterministic, audit-ready design.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9250" y="525899"/>
            <a:ext cx="4781074" cy="597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Decision Intelligence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669250" y="1410414"/>
            <a:ext cx="430292" cy="430292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4" name="Text 2"/>
          <p:cNvSpPr/>
          <p:nvPr/>
        </p:nvSpPr>
        <p:spPr>
          <a:xfrm>
            <a:off x="740985" y="1446312"/>
            <a:ext cx="286822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290757" y="1476137"/>
            <a:ext cx="2390537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Banking-First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290757" y="1889641"/>
            <a:ext cx="1267039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structured credit memos (5Cs framework) for loan approval, unlike generic ChatPDF.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69250" y="2577941"/>
            <a:ext cx="430292" cy="430292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8" name="Text 6"/>
          <p:cNvSpPr/>
          <p:nvPr/>
        </p:nvSpPr>
        <p:spPr>
          <a:xfrm>
            <a:off x="740985" y="2613839"/>
            <a:ext cx="286822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90757" y="2643664"/>
            <a:ext cx="2641283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Precision Page Tracking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290757" y="3057168"/>
            <a:ext cx="1267039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pages with critical financial data, providing instant page numbers for audit-ready verification.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9250" y="3745468"/>
            <a:ext cx="430292" cy="430292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12" name="Text 10"/>
          <p:cNvSpPr/>
          <p:nvPr/>
        </p:nvSpPr>
        <p:spPr>
          <a:xfrm>
            <a:off x="740985" y="3781365"/>
            <a:ext cx="286822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90757" y="3811191"/>
            <a:ext cx="2819043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Audit-Ready Traceability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290757" y="4224695"/>
            <a:ext cx="1267039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Memos include metadata (pages, topics, LLM model) for full traceability and source document verification.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9250" y="4912995"/>
            <a:ext cx="430292" cy="430292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16" name="Text 14"/>
          <p:cNvSpPr/>
          <p:nvPr/>
        </p:nvSpPr>
        <p:spPr>
          <a:xfrm>
            <a:off x="740985" y="4948892"/>
            <a:ext cx="286822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90757" y="4978717"/>
            <a:ext cx="3253502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Seamless System Integration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1290757" y="5392222"/>
            <a:ext cx="1267039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output integrates with loan management systems, CRM, and document repositories. Word export for credit committees.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9250" y="5913239"/>
            <a:ext cx="1329189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ChatPDF: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Conversational Q&amp;A, unstructured, no audit trail.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9250" y="6441877"/>
            <a:ext cx="1329189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System: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Structured memos, page-linked evidence, banking-ready decisions.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56072" y="7185660"/>
            <a:ext cx="13005078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decision-grade document intelligence, not Chat-with-PDF.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9250" y="6970514"/>
            <a:ext cx="22860" cy="736163"/>
          </a:xfrm>
          <a:prstGeom prst="rect">
            <a:avLst/>
          </a:prstGeom>
          <a:solidFill>
            <a:srgbClr val="AC9EF5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569" y="765572"/>
            <a:ext cx="7518559" cy="661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Transforming Credit Decisions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0569" y="1955602"/>
            <a:ext cx="264485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Impact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740569" y="2497693"/>
            <a:ext cx="6316504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 creation: 8 hours → 30 minutes (analyst review).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0569" y="2910245"/>
            <a:ext cx="6316504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Immutable, page-linked evidence ensures regulatory compliance.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40569" y="3661291"/>
            <a:ext cx="6316504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analysis quality; confidence scoring flags weak areas.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0569" y="4412337"/>
            <a:ext cx="6316504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Analyst-ready memos, no rewrites.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580948" y="1955602"/>
            <a:ext cx="264485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Credit Memo Demo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7580948" y="2497693"/>
            <a:ext cx="6316504" cy="1353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audited financial statements. System extracts data, identifies topics, and generates structured credit memos (Executive Summary, 5Cs, Risk Assessment, citations). Review findings, download JSON/Word. Decision-ready.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580948" y="4042053"/>
            <a:ext cx="6316504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580948" y="4570928"/>
            <a:ext cx="6316504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Next: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580948" y="5099804"/>
            <a:ext cx="6316504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Multi-year trend analysis (3-5 years).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580948" y="5512356"/>
            <a:ext cx="6316504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 benchmarking.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580948" y="5924907"/>
            <a:ext cx="6316504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Covenant monitoring and violation alerts.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580948" y="6337459"/>
            <a:ext cx="6316504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Sensitivity analysis (revenue stress tests, leverage impact).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40569" y="7067312"/>
            <a:ext cx="7648218" cy="39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Raw PDFs → Explainable, auditable credit decisions.</a:t>
            </a:r>
            <a:endParaRPr lang="en-US" sz="2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2026-01-04T02:33:03Z</dcterms:created>
  <dcterms:modified xsi:type="dcterms:W3CDTF">2026-01-04T02:33:03Z</dcterms:modified>
</cp:coreProperties>
</file>